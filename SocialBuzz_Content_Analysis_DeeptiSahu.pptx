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18288000" cy="10287000"/>
  <p:notesSz cx="6858000" cy="9144000"/>
  <p:embeddedFontLst>
    <p:embeddedFont>
      <p:font typeface="Clear Sans Regular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883C84"/>
    <a:srgbClr val="461B49"/>
    <a:srgbClr val="963488"/>
    <a:srgbClr val="2831A2"/>
    <a:srgbClr val="2086AA"/>
    <a:srgbClr val="1994B1"/>
    <a:srgbClr val="00B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79" autoAdjust="0"/>
    <p:restoredTop sz="73146" autoAdjust="0"/>
  </p:normalViewPr>
  <p:slideViewPr>
    <p:cSldViewPr>
      <p:cViewPr varScale="1">
        <p:scale>
          <a:sx n="40" d="100"/>
          <a:sy n="40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ti\Desktop\study%20folder\accenture%20task\Top%205%20Performing%20Categorie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epti\Desktop\study%20folder\accenture%20task\Top%205%20Performing%20Categori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/>
              <a:t>Top 5 Categories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7932489451476793E-2"/>
          <c:y val="7.528055428279283E-2"/>
          <c:w val="0.97046413502109707"/>
          <c:h val="0.877634558898619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method1!$D$3</c:f>
              <c:strCache>
                <c:ptCount val="1"/>
                <c:pt idx="0">
                  <c:v>Total 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9E7-47B9-9B97-4B644608545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9E7-47B9-9B97-4B644608545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9E7-47B9-9B97-4B644608545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9E7-47B9-9B97-4B644608545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9E7-47B9-9B97-4B6446085451}"/>
              </c:ext>
            </c:extLst>
          </c:dPt>
          <c:dLbls>
            <c:dLbl>
              <c:idx val="0"/>
              <c:layout>
                <c:manualLayout>
                  <c:x val="0"/>
                  <c:y val="9.7222222222222224E-2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ln>
                        <a:solidFill>
                          <a:schemeClr val="tx1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E7-47B9-9B97-4B6446085451}"/>
                </c:ext>
              </c:extLst>
            </c:dLbl>
            <c:dLbl>
              <c:idx val="1"/>
              <c:layout>
                <c:manualLayout>
                  <c:x val="-2.5462668816039986E-17"/>
                  <c:y val="0.17129629629629625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ln>
                        <a:solidFill>
                          <a:schemeClr val="tx1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E7-47B9-9B97-4B6446085451}"/>
                </c:ext>
              </c:extLst>
            </c:dLbl>
            <c:dLbl>
              <c:idx val="2"/>
              <c:layout>
                <c:manualLayout>
                  <c:x val="-2.5462668816039986E-17"/>
                  <c:y val="0.25925925925925924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ln>
                        <a:solidFill>
                          <a:schemeClr val="tx1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E7-47B9-9B97-4B6446085451}"/>
                </c:ext>
              </c:extLst>
            </c:dLbl>
            <c:dLbl>
              <c:idx val="3"/>
              <c:layout>
                <c:manualLayout>
                  <c:x val="5.5555555555555558E-3"/>
                  <c:y val="0.33796296296296297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ln>
                        <a:solidFill>
                          <a:schemeClr val="tx1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9E7-47B9-9B97-4B6446085451}"/>
                </c:ext>
              </c:extLst>
            </c:dLbl>
            <c:dLbl>
              <c:idx val="4"/>
              <c:layout>
                <c:manualLayout>
                  <c:x val="-5.0925337632079971E-17"/>
                  <c:y val="0.42129629629629628"/>
                </c:manualLayout>
              </c:layout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ln>
                        <a:solidFill>
                          <a:schemeClr val="tx1"/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9E7-47B9-9B97-4B644608545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9E7-47B9-9B97-4B644608545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9E7-47B9-9B97-4B644608545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9E7-47B9-9B97-4B644608545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9E7-47B9-9B97-4B644608545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9E7-47B9-9B97-4B644608545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9E7-47B9-9B97-4B644608545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9E7-47B9-9B97-4B644608545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9E7-47B9-9B97-4B644608545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9E7-47B9-9B97-4B644608545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9E7-47B9-9B97-4B644608545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9E7-47B9-9B97-4B64460854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method1!$C$4:$C$19</c:f>
              <c:strCache>
                <c:ptCount val="16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  <c:pt idx="5">
                  <c:v>culture</c:v>
                </c:pt>
                <c:pt idx="6">
                  <c:v>travel</c:v>
                </c:pt>
                <c:pt idx="7">
                  <c:v>cooking</c:v>
                </c:pt>
                <c:pt idx="8">
                  <c:v>soccer</c:v>
                </c:pt>
                <c:pt idx="9">
                  <c:v>education</c:v>
                </c:pt>
                <c:pt idx="10">
                  <c:v>fitness</c:v>
                </c:pt>
                <c:pt idx="11">
                  <c:v>Studying</c:v>
                </c:pt>
                <c:pt idx="12">
                  <c:v>dogs</c:v>
                </c:pt>
                <c:pt idx="13">
                  <c:v>tennis</c:v>
                </c:pt>
                <c:pt idx="14">
                  <c:v>veganism</c:v>
                </c:pt>
                <c:pt idx="15">
                  <c:v>public speaking</c:v>
                </c:pt>
              </c:strCache>
            </c:strRef>
          </c:cat>
          <c:val>
            <c:numRef>
              <c:f>method1!$D$4:$D$19</c:f>
              <c:numCache>
                <c:formatCode>General</c:formatCode>
                <c:ptCount val="16"/>
                <c:pt idx="0">
                  <c:v>74965</c:v>
                </c:pt>
                <c:pt idx="1">
                  <c:v>71168</c:v>
                </c:pt>
                <c:pt idx="2">
                  <c:v>69339</c:v>
                </c:pt>
                <c:pt idx="3">
                  <c:v>68738</c:v>
                </c:pt>
                <c:pt idx="4">
                  <c:v>66676</c:v>
                </c:pt>
                <c:pt idx="5">
                  <c:v>66579</c:v>
                </c:pt>
                <c:pt idx="6">
                  <c:v>64880</c:v>
                </c:pt>
                <c:pt idx="7">
                  <c:v>64756</c:v>
                </c:pt>
                <c:pt idx="8">
                  <c:v>57783</c:v>
                </c:pt>
                <c:pt idx="9">
                  <c:v>57436</c:v>
                </c:pt>
                <c:pt idx="10">
                  <c:v>55323</c:v>
                </c:pt>
                <c:pt idx="11">
                  <c:v>53984</c:v>
                </c:pt>
                <c:pt idx="12">
                  <c:v>52511</c:v>
                </c:pt>
                <c:pt idx="13">
                  <c:v>50339</c:v>
                </c:pt>
                <c:pt idx="14">
                  <c:v>49619</c:v>
                </c:pt>
                <c:pt idx="15">
                  <c:v>49264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F9E7-47B9-9B97-4B64460854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47580191"/>
        <c:axId val="1047584991"/>
      </c:barChart>
      <c:catAx>
        <c:axId val="10475801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584991"/>
        <c:crosses val="autoZero"/>
        <c:auto val="1"/>
        <c:lblAlgn val="ctr"/>
        <c:lblOffset val="100"/>
        <c:noMultiLvlLbl val="0"/>
      </c:catAx>
      <c:valAx>
        <c:axId val="104758499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47580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800" b="1" i="0" u="none" strike="noStrike" baseline="0"/>
              <a:t>Audience Sentiment Distribution Across Leading Categories</a:t>
            </a:r>
            <a:endParaRPr lang="en-IN" sz="2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method1!$V$15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method1!$U$16:$U$20</c:f>
              <c:strCache>
                <c:ptCount val="5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</c:strCache>
            </c:strRef>
          </c:cat>
          <c:val>
            <c:numRef>
              <c:f>method1!$V$16:$V$20</c:f>
              <c:numCache>
                <c:formatCode>0.00%</c:formatCode>
                <c:ptCount val="5"/>
                <c:pt idx="0">
                  <c:v>6.9659174281331282E-2</c:v>
                </c:pt>
                <c:pt idx="1">
                  <c:v>6.410184352517985E-2</c:v>
                </c:pt>
                <c:pt idx="2">
                  <c:v>6.1365176884581547E-2</c:v>
                </c:pt>
                <c:pt idx="3">
                  <c:v>5.9501294771451017E-2</c:v>
                </c:pt>
                <c:pt idx="4">
                  <c:v>6.6365708800767892E-2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74-414F-B7B6-073732ECDAC8}"/>
            </c:ext>
          </c:extLst>
        </c:ser>
        <c:ser>
          <c:idx val="1"/>
          <c:order val="1"/>
          <c:tx>
            <c:strRef>
              <c:f>method1!$W$15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  <a:effectLst/>
          </c:spPr>
          <c:invertIfNegative val="0"/>
          <c:cat>
            <c:strRef>
              <c:f>method1!$U$16:$U$20</c:f>
              <c:strCache>
                <c:ptCount val="5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</c:strCache>
            </c:strRef>
          </c:cat>
          <c:val>
            <c:numRef>
              <c:f>method1!$W$16:$W$20</c:f>
              <c:numCache>
                <c:formatCode>0.00%</c:formatCode>
                <c:ptCount val="5"/>
                <c:pt idx="0">
                  <c:v>8.6907223370906422E-2</c:v>
                </c:pt>
                <c:pt idx="1">
                  <c:v>8.9366007194244604E-2</c:v>
                </c:pt>
                <c:pt idx="2">
                  <c:v>8.3647009619406104E-2</c:v>
                </c:pt>
                <c:pt idx="3">
                  <c:v>8.7578922866536707E-2</c:v>
                </c:pt>
                <c:pt idx="4">
                  <c:v>8.9462475253464513E-2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74-414F-B7B6-073732ECDAC8}"/>
            </c:ext>
          </c:extLst>
        </c:ser>
        <c:ser>
          <c:idx val="2"/>
          <c:order val="2"/>
          <c:tx>
            <c:strRef>
              <c:f>method1!$X$15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cat>
            <c:strRef>
              <c:f>method1!$U$16:$U$20</c:f>
              <c:strCache>
                <c:ptCount val="5"/>
                <c:pt idx="0">
                  <c:v>Animals</c:v>
                </c:pt>
                <c:pt idx="1">
                  <c:v>science</c:v>
                </c:pt>
                <c:pt idx="2">
                  <c:v>healthy eating</c:v>
                </c:pt>
                <c:pt idx="3">
                  <c:v>technology</c:v>
                </c:pt>
                <c:pt idx="4">
                  <c:v>food</c:v>
                </c:pt>
              </c:strCache>
            </c:strRef>
          </c:cat>
          <c:val>
            <c:numRef>
              <c:f>method1!$X$16:$X$20</c:f>
              <c:numCache>
                <c:formatCode>0.00%</c:formatCode>
                <c:ptCount val="5"/>
                <c:pt idx="0">
                  <c:v>0.84343360234776232</c:v>
                </c:pt>
                <c:pt idx="1">
                  <c:v>0.84653214928057552</c:v>
                </c:pt>
                <c:pt idx="2">
                  <c:v>0.85498781349601238</c:v>
                </c:pt>
                <c:pt idx="3">
                  <c:v>0.85291978236201227</c:v>
                </c:pt>
                <c:pt idx="4">
                  <c:v>0.84417181594576762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74-414F-B7B6-073732ECD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137183"/>
        <c:axId val="101141503"/>
      </c:barChart>
      <c:catAx>
        <c:axId val="101137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41503"/>
        <c:crosses val="autoZero"/>
        <c:auto val="1"/>
        <c:lblAlgn val="ctr"/>
        <c:lblOffset val="100"/>
        <c:noMultiLvlLbl val="0"/>
      </c:catAx>
      <c:valAx>
        <c:axId val="1011415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37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0.04703</cdr:x>
      <cdr:y>0.06484</cdr:y>
    </cdr:from>
    <cdr:to>
      <cdr:x>0.34302</cdr:x>
      <cdr:y>0.57058</cdr:y>
    </cdr:to>
    <cdr:cxnSp macro="">
      <cdr:nvCxnSpPr>
        <cdr:cNvPr id="5" name="Straight Arrow Connector 4">
          <a:extLst xmlns:a="http://schemas.openxmlformats.org/drawingml/2006/main">
            <a:ext uri="{FF2B5EF4-FFF2-40B4-BE49-F238E27FC236}">
              <a16:creationId xmlns:a16="http://schemas.microsoft.com/office/drawing/2014/main" id="{434E8341-0832-ED5E-81D3-2C0DB594A646}"/>
            </a:ext>
          </a:extLst>
        </cdr:cNvPr>
        <cdr:cNvCxnSpPr/>
      </cdr:nvCxnSpPr>
      <cdr:spPr>
        <a:xfrm xmlns:a="http://schemas.openxmlformats.org/drawingml/2006/main" flipH="1" flipV="1">
          <a:off x="616347" y="381000"/>
          <a:ext cx="3879453" cy="2971800"/>
        </a:xfrm>
        <a:prstGeom xmlns:a="http://schemas.openxmlformats.org/drawingml/2006/main" prst="straightConnector1">
          <a:avLst/>
        </a:prstGeom>
        <a:ln xmlns:a="http://schemas.openxmlformats.org/drawingml/2006/main" w="28575">
          <a:solidFill>
            <a:schemeClr val="tx1"/>
          </a:solidFill>
          <a:tailEnd type="triangle"/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Hello everyone, my name is Deepti Sahu, and today I'll be presenting a data-driven analysis of content category performance for Social Buzz. </a:t>
            </a:r>
          </a:p>
          <a:p>
            <a:pPr lvl="0"/>
            <a:r>
              <a:rPr lang="en-US" dirty="0"/>
              <a:t>This analysis highlights the top-performing categories based on audience reaction scores and provides insights to help guide content strategy and engagement decisions.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In today's presentation, I’ll begin with a quick recap of the Social Buzz project and the key business challenge.</a:t>
            </a:r>
          </a:p>
          <a:p>
            <a:pPr lvl="0"/>
            <a:r>
              <a:rPr lang="en-US" dirty="0"/>
              <a:t> Next, I’ll introduce the analytics team structure. </a:t>
            </a:r>
          </a:p>
          <a:p>
            <a:pPr lvl="0"/>
            <a:r>
              <a:rPr lang="en-US" dirty="0"/>
              <a:t>I’ll then walk through the process we followed—covering data cleaning, merging, and analysis. </a:t>
            </a:r>
          </a:p>
          <a:p>
            <a:pPr lvl="0"/>
            <a:r>
              <a:rPr lang="en-US" dirty="0"/>
              <a:t>After that, we’ll dive into the insights gathered from our findings. </a:t>
            </a:r>
          </a:p>
          <a:p>
            <a:pPr lvl="0"/>
            <a:r>
              <a:rPr lang="en-US" dirty="0"/>
              <a:t>Finally, I’ll summarize the analysis and share recommendations based on the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Social Buzz is a growing social media company preparing for an IPO. </a:t>
            </a:r>
          </a:p>
          <a:p>
            <a:pPr lvl="0"/>
            <a:r>
              <a:rPr lang="en-US" dirty="0"/>
              <a:t>They are currently facing challenges in analyzing large volumes of content and</a:t>
            </a:r>
          </a:p>
          <a:p>
            <a:pPr lvl="0"/>
            <a:r>
              <a:rPr lang="en-US" dirty="0"/>
              <a:t> user reactions to understand which content types are performing best.</a:t>
            </a:r>
            <a:br>
              <a:rPr lang="en-US" dirty="0"/>
            </a:br>
            <a:r>
              <a:rPr lang="en-US" dirty="0"/>
              <a:t>My role as a data analyst was to clean and </a:t>
            </a:r>
          </a:p>
          <a:p>
            <a:pPr lvl="0"/>
            <a:r>
              <a:rPr lang="en-US" dirty="0"/>
              <a:t>merge three key datasets—Content, Reactions, and Reaction Types—and </a:t>
            </a:r>
          </a:p>
          <a:p>
            <a:pPr lvl="0"/>
            <a:r>
              <a:rPr lang="en-US" dirty="0"/>
              <a:t>then analyze them to deliver performance insights that can guide content and business strategies.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Social Buzz, a growing social media platform, is preparing for its IPO and aims to strengthen investor confidence through data-backed insights.</a:t>
            </a:r>
            <a:br>
              <a:rPr lang="en-US" dirty="0"/>
            </a:br>
            <a:r>
              <a:rPr lang="en-US" dirty="0"/>
              <a:t>However, they’re currently facing challenges in managing and interpreting the vast volume of user-generated content and reactions.</a:t>
            </a:r>
            <a:br>
              <a:rPr lang="en-US" dirty="0"/>
            </a:br>
            <a:r>
              <a:rPr lang="en-US" dirty="0"/>
              <a:t>The core problem is identifying which content categories are driving the most engagement and popularity.</a:t>
            </a:r>
            <a:br>
              <a:rPr lang="en-US" dirty="0"/>
            </a:br>
            <a:r>
              <a:rPr lang="en-US" dirty="0"/>
              <a:t>This analysis will help the client understand where user interest lies, enabling more targeted content strategies and improved platform performance.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"Let me introduce the team behind this project.</a:t>
            </a:r>
          </a:p>
          <a:p>
            <a:pPr>
              <a:buNone/>
            </a:pPr>
            <a:r>
              <a:rPr lang="en-US" b="1" dirty="0"/>
              <a:t>Andrew Fleming</a:t>
            </a:r>
            <a:r>
              <a:rPr lang="en-US" dirty="0"/>
              <a:t>, our Chief Technology Architect, has worked with over 50 clients on digital transformation initiatives. He brings deep expertise in big data strategy and ensures we deliver high-quality insights backed by a robust data infrastructure.</a:t>
            </a:r>
          </a:p>
          <a:p>
            <a:pPr>
              <a:buNone/>
            </a:pPr>
            <a:r>
              <a:rPr lang="en-US" b="1" dirty="0"/>
              <a:t>Marcus Rompton</a:t>
            </a:r>
            <a:r>
              <a:rPr lang="en-US" dirty="0"/>
              <a:t>, our Senior Principal, has extensive experience with business data, particularly in the media and content industry. He oversees the analysis process and ensures our results align with client objectives.</a:t>
            </a:r>
          </a:p>
          <a:p>
            <a:r>
              <a:rPr lang="en-US" dirty="0"/>
              <a:t>And I’m </a:t>
            </a:r>
            <a:r>
              <a:rPr lang="en-US" b="1" dirty="0"/>
              <a:t>Deepti Sahu</a:t>
            </a:r>
            <a:r>
              <a:rPr lang="en-US" dirty="0"/>
              <a:t>, your Data Analyst for this project. I was responsible for cleaning, analyzing, and visualizing the data to uncover meaningful insights for Social Buzz."</a:t>
            </a: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buNone/>
            </a:pPr>
            <a:r>
              <a:rPr lang="en-US" dirty="0"/>
              <a:t>To solve the business problem, we followed a structured process.</a:t>
            </a:r>
          </a:p>
          <a:p>
            <a:pPr>
              <a:buNone/>
            </a:pPr>
            <a:r>
              <a:rPr lang="en-US" dirty="0"/>
              <a:t>First, we made sure we clearly understood the client’s objective — which was to identify the top 5 most popular content categories based on user reactions.</a:t>
            </a:r>
          </a:p>
          <a:p>
            <a:pPr>
              <a:buNone/>
            </a:pPr>
            <a:r>
              <a:rPr lang="en-US" dirty="0"/>
              <a:t>Next, from the 7 datasets provided, we carefully selected the 3 that were most relevant to this goal — the Reaction table, Content table, and Reaction Types table.</a:t>
            </a:r>
          </a:p>
          <a:p>
            <a:pPr>
              <a:buNone/>
            </a:pPr>
            <a:r>
              <a:rPr lang="en-US" dirty="0"/>
              <a:t>Then, we cleaned the data by removing unnecessary columns, handling missing values, and checking data types to ensure accuracy.</a:t>
            </a:r>
          </a:p>
          <a:p>
            <a:pPr>
              <a:buNone/>
            </a:pPr>
            <a:r>
              <a:rPr lang="en-US" dirty="0"/>
              <a:t>After cleaning, we merged the tables to create one final dataset — using Content ID and Reaction Type as the linking keys — to bring in both category and popularity scores.</a:t>
            </a:r>
          </a:p>
          <a:p>
            <a:r>
              <a:rPr lang="en-US" dirty="0"/>
              <a:t>Finally, we used Excel formulas like SUMIF to calculate total scores for each category and identify the top 5 performing ones. This analysis helped us understand which types of content the audience engages with most.</a:t>
            </a: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“Based on the total popularity scores, we identified the top five content categories that received the highest audience reactions.</a:t>
            </a:r>
            <a:br>
              <a:rPr lang="en-US" dirty="0"/>
            </a:br>
            <a:r>
              <a:rPr lang="en-US" dirty="0"/>
              <a:t>At the top is </a:t>
            </a:r>
            <a:r>
              <a:rPr lang="en-US" b="1" dirty="0"/>
              <a:t>Animals</a:t>
            </a:r>
            <a:r>
              <a:rPr lang="en-US" dirty="0"/>
              <a:t>, with over 74,000 points, showing users are highly engaged with pet and animal-related content.</a:t>
            </a:r>
            <a:br>
              <a:rPr lang="en-US" dirty="0"/>
            </a:br>
            <a:r>
              <a:rPr lang="en-US" b="1" dirty="0"/>
              <a:t>Science</a:t>
            </a:r>
            <a:r>
              <a:rPr lang="en-US" dirty="0"/>
              <a:t> and </a:t>
            </a:r>
            <a:r>
              <a:rPr lang="en-US" b="1" dirty="0"/>
              <a:t>Healthy Eating</a:t>
            </a:r>
            <a:r>
              <a:rPr lang="en-US" dirty="0"/>
              <a:t> followed closely, suggesting a growing interest in educational and wellness-focused content.</a:t>
            </a:r>
            <a:br>
              <a:rPr lang="en-US" dirty="0"/>
            </a:br>
            <a:r>
              <a:rPr lang="en-US" b="1" dirty="0"/>
              <a:t>Technology</a:t>
            </a:r>
            <a:r>
              <a:rPr lang="en-US" dirty="0"/>
              <a:t> continues to attract attention, reflecting interest in innovation and digital trends.</a:t>
            </a:r>
            <a:br>
              <a:rPr lang="en-US" dirty="0"/>
            </a:br>
            <a:r>
              <a:rPr lang="en-US" dirty="0"/>
              <a:t>Lastly, </a:t>
            </a:r>
            <a:r>
              <a:rPr lang="en-US" b="1" dirty="0"/>
              <a:t>Food</a:t>
            </a:r>
            <a:r>
              <a:rPr lang="en-US" dirty="0"/>
              <a:t> content remains a strong performer, likely due to its visual and universally appealing nature.</a:t>
            </a:r>
            <a:br>
              <a:rPr lang="en-US" dirty="0"/>
            </a:br>
            <a:r>
              <a:rPr lang="en-US" dirty="0"/>
              <a:t>These insights suggest a clear direction for optimizing future content strategies.”</a:t>
            </a: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“Here, we’ve analyzed the </a:t>
            </a:r>
            <a:r>
              <a:rPr lang="en-US" b="1" dirty="0"/>
              <a:t>sentiment of audience reactions</a:t>
            </a:r>
            <a:r>
              <a:rPr lang="en-US" dirty="0"/>
              <a:t> across the top 5 performing content categories.</a:t>
            </a:r>
            <a:br>
              <a:rPr lang="en-US" dirty="0"/>
            </a:br>
            <a:r>
              <a:rPr lang="en-US" dirty="0"/>
              <a:t>As you can see from the chart, all five categories—</a:t>
            </a:r>
            <a:r>
              <a:rPr lang="en-US" b="1" dirty="0"/>
              <a:t>Animals, Science, Healthy Eating, Technology, and Food</a:t>
            </a:r>
            <a:r>
              <a:rPr lang="en-US" dirty="0"/>
              <a:t>—show a </a:t>
            </a:r>
            <a:r>
              <a:rPr lang="en-US" b="1" dirty="0"/>
              <a:t>very high percentage of positive sentiment</a:t>
            </a:r>
            <a:r>
              <a:rPr lang="en-US" dirty="0"/>
              <a:t>, around </a:t>
            </a:r>
            <a:r>
              <a:rPr lang="en-US" b="1" dirty="0"/>
              <a:t>84% to 85%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clearly indicates that users are not only engaging with the content, but they’re also </a:t>
            </a:r>
            <a:r>
              <a:rPr lang="en-US" b="1" dirty="0"/>
              <a:t>reacting positively</a:t>
            </a:r>
            <a:r>
              <a:rPr lang="en-US" dirty="0"/>
              <a:t>, which reflects strong content alignment with audience interests.</a:t>
            </a:r>
            <a:br>
              <a:rPr lang="en-US" dirty="0"/>
            </a:br>
            <a:r>
              <a:rPr lang="en-US" dirty="0"/>
              <a:t>The percentage of </a:t>
            </a:r>
            <a:r>
              <a:rPr lang="en-US" b="1" dirty="0"/>
              <a:t>neutral sentiment</a:t>
            </a:r>
            <a:r>
              <a:rPr lang="en-US" dirty="0"/>
              <a:t> is between </a:t>
            </a:r>
            <a:r>
              <a:rPr lang="en-US" b="1" dirty="0"/>
              <a:t>8% to 9%</a:t>
            </a:r>
            <a:r>
              <a:rPr lang="en-US" dirty="0"/>
              <a:t>, typically seen in educational or informative content.</a:t>
            </a:r>
            <a:br>
              <a:rPr lang="en-US" dirty="0"/>
            </a:br>
            <a:r>
              <a:rPr lang="en-US" dirty="0"/>
              <a:t>Importantly, </a:t>
            </a:r>
            <a:r>
              <a:rPr lang="en-US" b="1" dirty="0"/>
              <a:t>negative sentiment is consistently low</a:t>
            </a:r>
            <a:r>
              <a:rPr lang="en-US" dirty="0"/>
              <a:t>, around </a:t>
            </a:r>
            <a:r>
              <a:rPr lang="en-US" b="1" dirty="0"/>
              <a:t>6% to 7%</a:t>
            </a:r>
            <a:r>
              <a:rPr lang="en-US" dirty="0"/>
              <a:t>, showing that the content is well-received and not causing dissatisfaction.</a:t>
            </a:r>
            <a:br>
              <a:rPr lang="en-US" dirty="0"/>
            </a:br>
            <a:r>
              <a:rPr lang="en-US" dirty="0"/>
              <a:t>This sentiment insight helps us understand the </a:t>
            </a:r>
            <a:r>
              <a:rPr lang="en-US" b="1" dirty="0"/>
              <a:t>emotional connection</a:t>
            </a:r>
            <a:r>
              <a:rPr lang="en-US" dirty="0"/>
              <a:t> between users and the content, and it can guide future content strategy to focus on what the audience truly enjoys.”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buNone/>
            </a:pPr>
            <a:r>
              <a:rPr lang="en-US" dirty="0"/>
              <a:t>“Based on our analysis, I have outlined key recommendations to help Social Buzz strengthen its IPO readiness and overall growth strategy.</a:t>
            </a:r>
          </a:p>
          <a:p>
            <a:pPr>
              <a:buNone/>
            </a:pPr>
            <a:r>
              <a:rPr lang="en-US" dirty="0"/>
              <a:t>Firstly, focusing on the top-performing categories such as Animals and Science can help maximize user engagement and retention.</a:t>
            </a:r>
          </a:p>
          <a:p>
            <a:pPr>
              <a:buNone/>
            </a:pPr>
            <a:r>
              <a:rPr lang="en-US" dirty="0"/>
              <a:t>Secondly, we can leverage the strong positive sentiment—over 84% positivity in reactions—within investor-facing materials to demonstrate user satisfaction and trust.</a:t>
            </a:r>
          </a:p>
          <a:p>
            <a:pPr>
              <a:buNone/>
            </a:pPr>
            <a:r>
              <a:rPr lang="en-US" dirty="0"/>
              <a:t>Third, presenting high engagement metrics during IPO preparation will increase investor confidence in the platform’s value and growth potential.</a:t>
            </a:r>
          </a:p>
          <a:p>
            <a:pPr>
              <a:buNone/>
            </a:pPr>
            <a:r>
              <a:rPr lang="en-US" dirty="0"/>
              <a:t>Additionally, ensuring that data remains clean, structured, and audit-ready will streamline the IPO process and reflect well on internal processes.</a:t>
            </a:r>
          </a:p>
          <a:p>
            <a:pPr>
              <a:buNone/>
            </a:pPr>
            <a:r>
              <a:rPr lang="en-US" dirty="0"/>
              <a:t>As user traffic is expected to grow post-IPO, investing in scalable infrastructure will help maintain performance.</a:t>
            </a:r>
          </a:p>
          <a:p>
            <a:r>
              <a:rPr lang="en-US" dirty="0"/>
              <a:t>Finally, developing clear performance dashboards will promote transparency with both investors and internal teams.”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47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>
              <a:buNone/>
            </a:pPr>
            <a:r>
              <a:rPr lang="en-US" dirty="0"/>
              <a:t>“To summarize, our analysis helped identify the top five content categories by total reaction scores, with </a:t>
            </a:r>
            <a:r>
              <a:rPr lang="en-US" i="1" dirty="0"/>
              <a:t>Animals</a:t>
            </a:r>
            <a:r>
              <a:rPr lang="en-US" dirty="0"/>
              <a:t> being the most engaging, followed closely by </a:t>
            </a:r>
            <a:r>
              <a:rPr lang="en-US" i="1" dirty="0"/>
              <a:t>Science</a:t>
            </a:r>
            <a:r>
              <a:rPr lang="en-US" dirty="0"/>
              <a:t> and </a:t>
            </a:r>
            <a:r>
              <a:rPr lang="en-US" i="1" dirty="0"/>
              <a:t>Healthy Eating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Importantly, we also saw consistently high positive sentiment across all top categories, averaging around 84–85%, which reflects strong user satisfaction.</a:t>
            </a:r>
          </a:p>
          <a:p>
            <a:pPr>
              <a:buNone/>
            </a:pPr>
            <a:r>
              <a:rPr lang="en-US" dirty="0"/>
              <a:t>These insights not only help guide content strategy to improve user engagement, but also play a key role in positioning Social Buzz effectively for a successful IPO.</a:t>
            </a:r>
          </a:p>
          <a:p>
            <a:r>
              <a:rPr lang="en-US" dirty="0"/>
              <a:t>With clear, data-backed recommendations, we have a confident path forward to drive both audience growth and investor trust.”</a:t>
            </a: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8.jpe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94731" y="0"/>
            <a:ext cx="1893269" cy="10287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6545735" y="406153"/>
            <a:ext cx="10042534" cy="9474693"/>
            <a:chOff x="0" y="0"/>
            <a:chExt cx="13390046" cy="1263292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0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0"/>
              <a:ext cx="3005065" cy="279471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3279405"/>
              <a:ext cx="3005065" cy="279471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6558809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09592" y="341664"/>
            <a:ext cx="12181994" cy="8551888"/>
            <a:chOff x="383843" y="448876"/>
            <a:chExt cx="11283948" cy="10642047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>
              <a:off x="1931835" y="1354967"/>
              <a:ext cx="9735956" cy="973595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16200000">
              <a:off x="954415" y="-121696"/>
              <a:ext cx="9735955" cy="10877100"/>
            </a:xfrm>
            <a:prstGeom prst="rect">
              <a:avLst/>
            </a:prstGeom>
          </p:spPr>
        </p:pic>
      </p:grpSp>
      <p:sp>
        <p:nvSpPr>
          <p:cNvPr id="24" name="TextBox 24"/>
          <p:cNvSpPr txBox="1"/>
          <p:nvPr/>
        </p:nvSpPr>
        <p:spPr>
          <a:xfrm>
            <a:off x="197303" y="2336850"/>
            <a:ext cx="11369699" cy="4036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IN" sz="4400" b="1" dirty="0"/>
              <a:t>Title : Content Category Performance Analysis</a:t>
            </a:r>
            <a:r>
              <a:rPr lang="en-US" sz="4400" b="1" spc="-105" dirty="0">
                <a:solidFill>
                  <a:srgbClr val="FFFFFF"/>
                </a:solidFill>
                <a:latin typeface="Graphik Regular" panose="020B0503030202060203" pitchFamily="34" charset="0"/>
              </a:rPr>
              <a:t> </a:t>
            </a:r>
            <a:r>
              <a:rPr lang="en-IN" sz="3600" b="1" dirty="0"/>
              <a:t>Date : 10 Apr 2025</a:t>
            </a:r>
          </a:p>
          <a:p>
            <a:pPr algn="ctr">
              <a:lnSpc>
                <a:spcPts val="11059"/>
              </a:lnSpc>
            </a:pPr>
            <a:r>
              <a:rPr lang="en-IN" sz="3600" b="1" dirty="0"/>
              <a:t>Presented by : Deepti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364782"/>
            <a:ext cx="8673443" cy="5466339"/>
            <a:chOff x="0" y="0"/>
            <a:chExt cx="11564591" cy="3814522"/>
          </a:xfrm>
        </p:grpSpPr>
        <p:sp>
          <p:nvSpPr>
            <p:cNvPr id="3" name="TextBox 3"/>
            <p:cNvSpPr txBox="1"/>
            <p:nvPr/>
          </p:nvSpPr>
          <p:spPr>
            <a:xfrm>
              <a:off x="1" y="0"/>
              <a:ext cx="8331200" cy="7860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6000" b="1" spc="-80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Today's 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22615"/>
              <a:ext cx="11564591" cy="2691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Project recap</a:t>
              </a: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endParaRPr lang="en-US" sz="4000" b="1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Problem</a:t>
              </a: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endParaRPr lang="en-US" sz="4000" b="1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The Analytics team</a:t>
              </a: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endParaRPr lang="en-US" sz="4000" b="1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Process</a:t>
              </a: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endParaRPr lang="en-US" sz="4000" b="1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Insights</a:t>
              </a: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endParaRPr lang="en-US" sz="4000" b="1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  <a:p>
              <a:pPr marL="571500" indent="-571500">
                <a:lnSpc>
                  <a:spcPts val="2660"/>
                </a:lnSpc>
                <a:buFont typeface="Arial" panose="020B0604020202020204" pitchFamily="34" charset="0"/>
                <a:buChar char="•"/>
              </a:pPr>
              <a:r>
                <a:rPr lang="en-US" sz="4000" b="1" spc="-19" dirty="0">
                  <a:solidFill>
                    <a:srgbClr val="000000"/>
                  </a:solidFill>
                  <a:latin typeface="Graphik Regular" panose="020B0503030202060203" pitchFamily="34" charset="0"/>
                </a:rPr>
                <a:t>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07242" y="-1685151"/>
            <a:ext cx="3545508" cy="3370302"/>
            <a:chOff x="0" y="0"/>
            <a:chExt cx="4727344" cy="4493736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13610070" y="3458349"/>
            <a:ext cx="3545508" cy="3370302"/>
            <a:chOff x="0" y="0"/>
            <a:chExt cx="4727344" cy="4493736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1912898" y="8601849"/>
            <a:ext cx="3545508" cy="3370302"/>
            <a:chOff x="0" y="0"/>
            <a:chExt cx="4727344" cy="4493736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-914400" y="406153"/>
            <a:ext cx="2253799" cy="9474693"/>
            <a:chOff x="0" y="0"/>
            <a:chExt cx="3005065" cy="1263292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7113" y="584601"/>
            <a:ext cx="17253775" cy="9117799"/>
            <a:chOff x="0" y="0"/>
            <a:chExt cx="23005033" cy="12157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3155875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6311751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9467626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3155875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6311751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9467626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3155875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6311751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9467626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3155875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6311751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9467626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3155875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6311751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9467626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3155875"/>
              <a:ext cx="2891870" cy="2689439"/>
            </a:xfrm>
            <a:prstGeom prst="rect">
              <a:avLst/>
            </a:prstGeom>
          </p:spPr>
        </p:pic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6311751"/>
              <a:ext cx="2891870" cy="2689439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9467626"/>
              <a:ext cx="2891870" cy="2689439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155875"/>
              <a:ext cx="2891870" cy="2689439"/>
            </a:xfrm>
            <a:prstGeom prst="rect">
              <a:avLst/>
            </a:prstGeom>
          </p:spPr>
        </p:pic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311751"/>
              <a:ext cx="2891870" cy="2689439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467626"/>
              <a:ext cx="2891870" cy="2689439"/>
            </a:xfrm>
            <a:prstGeom prst="rect">
              <a:avLst/>
            </a:prstGeom>
          </p:spPr>
        </p:pic>
      </p:grpSp>
      <p:sp>
        <p:nvSpPr>
          <p:cNvPr id="31" name="AutoShape 31"/>
          <p:cNvSpPr/>
          <p:nvPr/>
        </p:nvSpPr>
        <p:spPr>
          <a:xfrm>
            <a:off x="4557311" y="2259495"/>
            <a:ext cx="11342283" cy="627583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>
              <a:buNone/>
            </a:pPr>
            <a:r>
              <a:rPr lang="en-IN" sz="3600" b="1" dirty="0"/>
              <a:t>                     Client Name: </a:t>
            </a:r>
            <a:r>
              <a:rPr lang="en-IN" sz="3600" dirty="0"/>
              <a:t>Social Buzz</a:t>
            </a:r>
          </a:p>
          <a:p>
            <a:pPr>
              <a:buNone/>
            </a:pPr>
            <a:r>
              <a:rPr lang="en-IN" sz="3600" b="1" dirty="0"/>
              <a:t>                     Industry: </a:t>
            </a:r>
            <a:r>
              <a:rPr lang="en-IN" sz="3600" dirty="0"/>
              <a:t>Social Media &amp; Technology</a:t>
            </a:r>
          </a:p>
          <a:p>
            <a:pPr>
              <a:buNone/>
            </a:pPr>
            <a:r>
              <a:rPr lang="en-IN" sz="3200" b="1" dirty="0"/>
              <a:t>                        Objective: </a:t>
            </a:r>
            <a:r>
              <a:rPr lang="en-IN" sz="3200" dirty="0"/>
              <a:t>To analyze content category performance  </a:t>
            </a:r>
          </a:p>
          <a:p>
            <a:r>
              <a:rPr lang="en-IN" sz="3200" dirty="0"/>
              <a:t>                                            using reaction scores and identify </a:t>
            </a:r>
          </a:p>
          <a:p>
            <a:r>
              <a:rPr lang="en-IN" sz="3200" b="1" dirty="0"/>
              <a:t>                                            </a:t>
            </a:r>
            <a:r>
              <a:rPr lang="en-IN" sz="3200" dirty="0"/>
              <a:t>top-performing content types to support</a:t>
            </a:r>
          </a:p>
          <a:p>
            <a:r>
              <a:rPr lang="en-IN" sz="3200" dirty="0"/>
              <a:t>                                            Social Buzz’s IPO preparations and</a:t>
            </a:r>
          </a:p>
          <a:p>
            <a:r>
              <a:rPr lang="en-IN" sz="3200" dirty="0"/>
              <a:t>                                            enhance audience engagement strategies.</a:t>
            </a:r>
          </a:p>
          <a:p>
            <a:r>
              <a:rPr lang="en-IN" sz="3200" dirty="0"/>
              <a:t>                       </a:t>
            </a:r>
          </a:p>
          <a:p>
            <a:r>
              <a:rPr lang="en-IN" sz="3200" b="1" dirty="0"/>
              <a:t>                        My Role:  </a:t>
            </a:r>
            <a:r>
              <a:rPr lang="en-IN" sz="2800" dirty="0"/>
              <a:t>Data Analyst — responsible for data cleaning, </a:t>
            </a:r>
          </a:p>
          <a:p>
            <a:r>
              <a:rPr lang="en-IN" sz="2800" dirty="0"/>
              <a:t>                                                merging, analysis, and visualization.</a:t>
            </a:r>
          </a:p>
          <a:p>
            <a:r>
              <a:rPr lang="en-IN" sz="2800" dirty="0"/>
              <a:t>   </a:t>
            </a:r>
            <a:endParaRPr lang="en-IN" dirty="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21"/>
          <a:stretch>
            <a:fillRect/>
          </a:stretch>
        </p:blipFill>
        <p:spPr>
          <a:xfrm rot="10799999">
            <a:off x="238235" y="2163580"/>
            <a:ext cx="6453903" cy="6467663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28735" y="4008310"/>
            <a:ext cx="448197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Project Recap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8195696"/>
            <a:ext cx="3545508" cy="3370302"/>
            <a:chOff x="0" y="0"/>
            <a:chExt cx="4727344" cy="4493736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6" name="AutoShape 6"/>
          <p:cNvSpPr/>
          <p:nvPr/>
        </p:nvSpPr>
        <p:spPr>
          <a:xfrm>
            <a:off x="27681" y="0"/>
            <a:ext cx="9964482" cy="10287000"/>
          </a:xfrm>
          <a:prstGeom prst="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txBody>
          <a:bodyPr/>
          <a:lstStyle/>
          <a:p>
            <a:endParaRPr lang="en-AU" dirty="0"/>
          </a:p>
        </p:txBody>
      </p:sp>
      <p:grpSp>
        <p:nvGrpSpPr>
          <p:cNvPr id="7" name="Group 7"/>
          <p:cNvGrpSpPr/>
          <p:nvPr/>
        </p:nvGrpSpPr>
        <p:grpSpPr>
          <a:xfrm>
            <a:off x="-146279" y="406153"/>
            <a:ext cx="2253799" cy="9474693"/>
            <a:chOff x="0" y="0"/>
            <a:chExt cx="3005065" cy="1263292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29944" y="2033321"/>
            <a:ext cx="7539413" cy="6949347"/>
            <a:chOff x="0" y="154662"/>
            <a:chExt cx="4584818" cy="4396135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656398"/>
              <a:ext cx="3894399" cy="3894399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963488"/>
              </a:solidFill>
            </p:spPr>
            <p:txBody>
              <a:bodyPr/>
              <a:lstStyle/>
              <a:p>
                <a:endParaRPr lang="en-AU" dirty="0"/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321"/>
            <a:stretch>
              <a:fillRect/>
            </a:stretch>
          </p:blipFill>
          <p:spPr>
            <a:xfrm rot="16484543">
              <a:off x="686267" y="150511"/>
              <a:ext cx="3894400" cy="3902702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5986267" y="-1061348"/>
            <a:ext cx="3545508" cy="3370302"/>
            <a:chOff x="0" y="0"/>
            <a:chExt cx="4727344" cy="4493736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24693" r="24693"/>
          <a:stretch>
            <a:fillRect/>
          </a:stretch>
        </p:blipFill>
        <p:spPr>
          <a:xfrm>
            <a:off x="11007484" y="1028700"/>
            <a:ext cx="6251816" cy="8229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407933" y="4346187"/>
            <a:ext cx="526686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8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723" y="406153"/>
            <a:ext cx="9939843" cy="9474693"/>
            <a:chOff x="0" y="0"/>
            <a:chExt cx="13253124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0"/>
              <a:ext cx="3005065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16020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0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32040" y="9838214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0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3279405"/>
              <a:ext cx="3005065" cy="279471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6558809"/>
              <a:ext cx="3005065" cy="279471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248060" y="9838214"/>
              <a:ext cx="3005065" cy="2794710"/>
            </a:xfrm>
            <a:prstGeom prst="rect">
              <a:avLst/>
            </a:prstGeom>
          </p:spPr>
        </p:pic>
      </p:grpSp>
      <p:sp>
        <p:nvSpPr>
          <p:cNvPr id="15" name="AutoShape 15"/>
          <p:cNvSpPr/>
          <p:nvPr/>
        </p:nvSpPr>
        <p:spPr>
          <a:xfrm>
            <a:off x="2110745" y="1825527"/>
            <a:ext cx="6750815" cy="663594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825797" y="1270731"/>
            <a:ext cx="2085137" cy="208513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1411515" y="1152321"/>
            <a:ext cx="2187334" cy="2123082"/>
            <a:chOff x="-23043" y="66269"/>
            <a:chExt cx="6542158" cy="6349987"/>
          </a:xfrm>
        </p:grpSpPr>
        <p:sp>
          <p:nvSpPr>
            <p:cNvPr id="19" name="Freeform 19"/>
            <p:cNvSpPr/>
            <p:nvPr/>
          </p:nvSpPr>
          <p:spPr>
            <a:xfrm>
              <a:off x="-23043" y="119140"/>
              <a:ext cx="6542158" cy="6244243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-136837" t="-28774" r="-84967" b="-86469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825797" y="4221947"/>
            <a:ext cx="2085137" cy="2085137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1411515" y="4002073"/>
            <a:ext cx="2187334" cy="2123082"/>
            <a:chOff x="-23042" y="66269"/>
            <a:chExt cx="6542158" cy="6349987"/>
          </a:xfrm>
        </p:grpSpPr>
        <p:sp>
          <p:nvSpPr>
            <p:cNvPr id="24" name="Freeform 24"/>
            <p:cNvSpPr/>
            <p:nvPr/>
          </p:nvSpPr>
          <p:spPr>
            <a:xfrm>
              <a:off x="-23042" y="119185"/>
              <a:ext cx="6542158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6"/>
              <a:stretch>
                <a:fillRect l="-162891" t="-16684" r="-160683" b="-166629"/>
              </a:stretch>
            </a:blipFill>
            <a:ln>
              <a:solidFill>
                <a:srgbClr val="00BAF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1825797" y="7173163"/>
            <a:ext cx="2085137" cy="2085137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4928870" y="0"/>
                    <a:pt x="6350000" y="1421130"/>
                    <a:pt x="6350000" y="3175000"/>
                  </a:cubicBezTo>
                  <a:cubicBezTo>
                    <a:pt x="6350000" y="4928870"/>
                    <a:pt x="4928870" y="6350000"/>
                    <a:pt x="3175000" y="6350000"/>
                  </a:cubicBezTo>
                  <a:cubicBezTo>
                    <a:pt x="1421130" y="6350000"/>
                    <a:pt x="0" y="4928870"/>
                    <a:pt x="0" y="3175000"/>
                  </a:cubicBezTo>
                  <a:cubicBezTo>
                    <a:pt x="0" y="1421130"/>
                    <a:pt x="1421130" y="0"/>
                    <a:pt x="3175000" y="0"/>
                  </a:cubicBez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lstStyle/>
            <a:p>
              <a:endParaRPr lang="en-AU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1419219" y="6931132"/>
            <a:ext cx="2174041" cy="2165548"/>
            <a:chOff x="0" y="0"/>
            <a:chExt cx="6502400" cy="6477000"/>
          </a:xfrm>
        </p:grpSpPr>
        <p:sp>
          <p:nvSpPr>
            <p:cNvPr id="29" name="Freeform 29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-164266" t="1917" r="-22903" b="-93994"/>
              </a:stretch>
            </a:blipFill>
            <a:ln>
              <a:solidFill>
                <a:srgbClr val="00BAFF"/>
              </a:solidFill>
            </a:ln>
          </p:spPr>
          <p:txBody>
            <a:bodyPr/>
            <a:lstStyle/>
            <a:p>
              <a:endParaRPr lang="en-AU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2E44D8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2670508" y="3331799"/>
            <a:ext cx="5612273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The Analytics team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301A33-0831-CF78-64AB-32729DE0C6A9}"/>
              </a:ext>
            </a:extLst>
          </p:cNvPr>
          <p:cNvSpPr txBox="1"/>
          <p:nvPr/>
        </p:nvSpPr>
        <p:spPr>
          <a:xfrm>
            <a:off x="13910934" y="1454169"/>
            <a:ext cx="43770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Andrew Fleming  </a:t>
            </a:r>
          </a:p>
          <a:p>
            <a:r>
              <a:rPr lang="en-IN" sz="3200" dirty="0"/>
              <a:t>Chief Technology  Architect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8C92FB-0B1D-CF3A-8AF8-6907F2A6AA5E}"/>
              </a:ext>
            </a:extLst>
          </p:cNvPr>
          <p:cNvSpPr txBox="1"/>
          <p:nvPr/>
        </p:nvSpPr>
        <p:spPr>
          <a:xfrm>
            <a:off x="13948884" y="4221947"/>
            <a:ext cx="403431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Marcus Rompton</a:t>
            </a:r>
          </a:p>
          <a:p>
            <a:r>
              <a:rPr lang="en-IN" sz="3200" dirty="0"/>
              <a:t> Senior Principal</a:t>
            </a:r>
          </a:p>
          <a:p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F3B5CA-22DF-F10D-7AC0-91796375E271}"/>
              </a:ext>
            </a:extLst>
          </p:cNvPr>
          <p:cNvSpPr txBox="1"/>
          <p:nvPr/>
        </p:nvSpPr>
        <p:spPr>
          <a:xfrm>
            <a:off x="14097000" y="7173163"/>
            <a:ext cx="368427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Data</a:t>
            </a:r>
            <a:r>
              <a:rPr lang="en-IN" dirty="0"/>
              <a:t> </a:t>
            </a:r>
            <a:r>
              <a:rPr lang="en-IN" sz="3600" b="1" dirty="0"/>
              <a:t>Analyst</a:t>
            </a:r>
          </a:p>
          <a:p>
            <a:r>
              <a:rPr lang="en-IN" sz="3200" dirty="0"/>
              <a:t>Deepti Sahu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33807"/>
            <a:ext cx="10042534" cy="9474693"/>
            <a:chOff x="0" y="0"/>
            <a:chExt cx="13390046" cy="1263292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0232"/>
            <a:stretch>
              <a:fillRect/>
            </a:stretch>
          </p:blipFill>
          <p:spPr>
            <a:xfrm>
              <a:off x="6923321" y="6558809"/>
              <a:ext cx="2697587" cy="279471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923321" y="9838214"/>
              <a:ext cx="3005065" cy="279471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3279405"/>
              <a:ext cx="3005065" cy="279471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6558809"/>
              <a:ext cx="3005065" cy="279471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461660" y="9838214"/>
              <a:ext cx="3005065" cy="279471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3005065" cy="279471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3279405"/>
              <a:ext cx="3005065" cy="279471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6558809"/>
              <a:ext cx="3005065" cy="279471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9838214"/>
              <a:ext cx="3005065" cy="279471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384981" y="9838214"/>
              <a:ext cx="3005065" cy="279471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1903391" y="1027892"/>
            <a:ext cx="1854962" cy="1781248"/>
            <a:chOff x="0" y="0"/>
            <a:chExt cx="2473282" cy="2374997"/>
          </a:xfrm>
        </p:grpSpPr>
        <p:grpSp>
          <p:nvGrpSpPr>
            <p:cNvPr id="14" name="Group 14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758754" y="2639980"/>
            <a:ext cx="1854962" cy="1781248"/>
            <a:chOff x="0" y="0"/>
            <a:chExt cx="2473282" cy="2374997"/>
          </a:xfrm>
        </p:grpSpPr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5614117" y="4252068"/>
            <a:ext cx="1854962" cy="1781248"/>
            <a:chOff x="0" y="0"/>
            <a:chExt cx="2473282" cy="2374997"/>
          </a:xfrm>
        </p:grpSpPr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5" name="Group 25"/>
          <p:cNvGrpSpPr/>
          <p:nvPr/>
        </p:nvGrpSpPr>
        <p:grpSpPr>
          <a:xfrm>
            <a:off x="7469480" y="5864156"/>
            <a:ext cx="1854962" cy="1781248"/>
            <a:chOff x="0" y="0"/>
            <a:chExt cx="2473282" cy="2374997"/>
          </a:xfrm>
        </p:grpSpPr>
        <p:grpSp>
          <p:nvGrpSpPr>
            <p:cNvPr id="26" name="Group 26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9324843" y="7476244"/>
            <a:ext cx="1854962" cy="1781248"/>
            <a:chOff x="0" y="0"/>
            <a:chExt cx="2473282" cy="2374997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342565"/>
              <a:ext cx="2032432" cy="2032432"/>
              <a:chOff x="0" y="0"/>
              <a:chExt cx="6350000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831A2"/>
              </a:solidFill>
            </p:spPr>
          </p:sp>
        </p:grpSp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358154" y="78550"/>
              <a:ext cx="2032432" cy="2036765"/>
            </a:xfrm>
            <a:prstGeom prst="rect">
              <a:avLst/>
            </a:prstGeom>
          </p:spPr>
        </p:pic>
      </p:grpSp>
      <p:sp>
        <p:nvSpPr>
          <p:cNvPr id="34" name="TextBox 34"/>
          <p:cNvSpPr txBox="1"/>
          <p:nvPr/>
        </p:nvSpPr>
        <p:spPr>
          <a:xfrm>
            <a:off x="2630944" y="1372359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34646" y="2984043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08223" y="7828620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>
                <a:solidFill>
                  <a:srgbClr val="FFFFFF"/>
                </a:solidFill>
                <a:latin typeface="Clear Sans Regular Bold"/>
              </a:rPr>
              <a:t>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93880" y="6204766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96750" y="4605252"/>
            <a:ext cx="1229487" cy="95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92"/>
              </a:lnSpc>
            </a:pPr>
            <a:r>
              <a:rPr lang="en-US" sz="7192" spc="-640" dirty="0">
                <a:solidFill>
                  <a:srgbClr val="FFFFFF"/>
                </a:solidFill>
                <a:latin typeface="Clear Sans Regular Bold"/>
              </a:rPr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093812-FA08-78D9-3D79-567C3262F9F1}"/>
              </a:ext>
            </a:extLst>
          </p:cNvPr>
          <p:cNvSpPr txBox="1"/>
          <p:nvPr/>
        </p:nvSpPr>
        <p:spPr>
          <a:xfrm>
            <a:off x="4850044" y="993098"/>
            <a:ext cx="10846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Understanding the Business Problem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AB23E98-409E-C201-32DA-9518B6A78EF9}"/>
              </a:ext>
            </a:extLst>
          </p:cNvPr>
          <p:cNvSpPr/>
          <p:nvPr/>
        </p:nvSpPr>
        <p:spPr>
          <a:xfrm>
            <a:off x="609600" y="4508367"/>
            <a:ext cx="3921189" cy="3683133"/>
          </a:xfrm>
          <a:prstGeom prst="ellipse">
            <a:avLst/>
          </a:prstGeom>
          <a:solidFill>
            <a:srgbClr val="00B0F0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A8C7DB-5AA0-C2D6-7C84-975531938548}"/>
              </a:ext>
            </a:extLst>
          </p:cNvPr>
          <p:cNvSpPr txBox="1"/>
          <p:nvPr/>
        </p:nvSpPr>
        <p:spPr>
          <a:xfrm>
            <a:off x="1050785" y="5589876"/>
            <a:ext cx="30509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554A94-AEAC-CD83-DB23-A7A0EC525FA0}"/>
              </a:ext>
            </a:extLst>
          </p:cNvPr>
          <p:cNvSpPr txBox="1"/>
          <p:nvPr/>
        </p:nvSpPr>
        <p:spPr>
          <a:xfrm>
            <a:off x="6151349" y="2322439"/>
            <a:ext cx="6726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Requirements Gathering</a:t>
            </a:r>
            <a:br>
              <a:rPr lang="en-IN" sz="4800" dirty="0"/>
            </a:br>
            <a:endParaRPr lang="en-IN" sz="4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AF7EA0-C9B0-0161-86DA-04EE6E8A691F}"/>
              </a:ext>
            </a:extLst>
          </p:cNvPr>
          <p:cNvSpPr txBox="1"/>
          <p:nvPr/>
        </p:nvSpPr>
        <p:spPr>
          <a:xfrm>
            <a:off x="7902514" y="3892099"/>
            <a:ext cx="47717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Data Cleaning</a:t>
            </a:r>
            <a:br>
              <a:rPr lang="en-IN" sz="4800" b="1" dirty="0"/>
            </a:br>
            <a:endParaRPr lang="en-IN" sz="4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E61BAE-AD57-1C87-37C5-238F0167F742}"/>
              </a:ext>
            </a:extLst>
          </p:cNvPr>
          <p:cNvSpPr txBox="1"/>
          <p:nvPr/>
        </p:nvSpPr>
        <p:spPr>
          <a:xfrm>
            <a:off x="9906000" y="5452914"/>
            <a:ext cx="518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Data Modelling</a:t>
            </a:r>
            <a:br>
              <a:rPr lang="en-IN" sz="4800" b="1" dirty="0"/>
            </a:br>
            <a:endParaRPr lang="en-IN" sz="4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97B752-8407-989A-1DFD-4DF3575668F2}"/>
              </a:ext>
            </a:extLst>
          </p:cNvPr>
          <p:cNvSpPr txBox="1"/>
          <p:nvPr/>
        </p:nvSpPr>
        <p:spPr>
          <a:xfrm>
            <a:off x="11690479" y="7341168"/>
            <a:ext cx="57952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Analysis &amp; Insight Generation</a:t>
            </a:r>
            <a:br>
              <a:rPr lang="en-IN" sz="4800" b="1" dirty="0"/>
            </a:br>
            <a:endParaRPr lang="en-IN" sz="4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127159" y="6480806"/>
            <a:ext cx="2972219" cy="88175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17111" y="254296"/>
            <a:ext cx="359859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Insights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17112" y="7810500"/>
            <a:ext cx="17253775" cy="2017079"/>
            <a:chOff x="0" y="0"/>
            <a:chExt cx="23005033" cy="268943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272183" y="6480309"/>
            <a:ext cx="2972219" cy="881758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670342" y="6480309"/>
            <a:ext cx="2972219" cy="881758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B72A1C4-A61A-B46C-639A-5A9A7F846A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9615354"/>
              </p:ext>
            </p:extLst>
          </p:nvPr>
        </p:nvGraphicFramePr>
        <p:xfrm>
          <a:off x="1905000" y="1485900"/>
          <a:ext cx="13106400" cy="5876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1" y="-710238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95F2C579-429B-FF51-153D-821F2DAF5E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904795"/>
              </p:ext>
            </p:extLst>
          </p:nvPr>
        </p:nvGraphicFramePr>
        <p:xfrm>
          <a:off x="3557062" y="1954782"/>
          <a:ext cx="11737781" cy="6497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213" y="9490985"/>
            <a:ext cx="17253775" cy="2017079"/>
            <a:chOff x="0" y="0"/>
            <a:chExt cx="23005033" cy="26894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1153642">
            <a:off x="979455" y="8814373"/>
            <a:ext cx="3545508" cy="3370302"/>
            <a:chOff x="0" y="0"/>
            <a:chExt cx="4727344" cy="4493736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5752" y="-1235382"/>
            <a:ext cx="17253775" cy="2017079"/>
            <a:chOff x="0" y="0"/>
            <a:chExt cx="23005033" cy="268943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sp>
        <p:nvSpPr>
          <p:cNvPr id="22" name="AutoShape 22"/>
          <p:cNvSpPr/>
          <p:nvPr/>
        </p:nvSpPr>
        <p:spPr>
          <a:xfrm>
            <a:off x="0" y="0"/>
            <a:ext cx="2386482" cy="10287000"/>
          </a:xfrm>
          <a:prstGeom prst="rect">
            <a:avLst/>
          </a:prstGeom>
          <a:solidFill>
            <a:srgbClr val="A100FF"/>
          </a:solidFill>
        </p:spPr>
      </p:sp>
      <p:grpSp>
        <p:nvGrpSpPr>
          <p:cNvPr id="23" name="Group 23"/>
          <p:cNvGrpSpPr/>
          <p:nvPr/>
        </p:nvGrpSpPr>
        <p:grpSpPr>
          <a:xfrm>
            <a:off x="16515246" y="-1685151"/>
            <a:ext cx="3545508" cy="3370302"/>
            <a:chOff x="0" y="0"/>
            <a:chExt cx="4727344" cy="4493736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644072" y="410464"/>
              <a:ext cx="4083272" cy="4083272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321"/>
            <a:stretch>
              <a:fillRect/>
            </a:stretch>
          </p:blipFill>
          <p:spPr>
            <a:xfrm>
              <a:off x="0" y="0"/>
              <a:ext cx="4083272" cy="4091977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122DED8-FD37-6B81-319B-EF558CF59937}"/>
              </a:ext>
            </a:extLst>
          </p:cNvPr>
          <p:cNvSpPr txBox="1"/>
          <p:nvPr/>
        </p:nvSpPr>
        <p:spPr>
          <a:xfrm>
            <a:off x="3069359" y="781697"/>
            <a:ext cx="123260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Strategic Recommendations for IPO Readiness &amp; Growth</a:t>
            </a:r>
          </a:p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9770F3-29E7-14AD-363A-E684101ACCA5}"/>
              </a:ext>
            </a:extLst>
          </p:cNvPr>
          <p:cNvSpPr txBox="1"/>
          <p:nvPr/>
        </p:nvSpPr>
        <p:spPr>
          <a:xfrm>
            <a:off x="3169898" y="1766582"/>
            <a:ext cx="1427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8C103B36-51C9-3177-1DDE-2519BC11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685" y="1779934"/>
            <a:ext cx="1218569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Focus content strategy on top-performing categories (e.g., Animals, Science)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Leverage positive sentiment data in investor communications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Highlight high engagement metrics to increase perceived platform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Maintain clean and audited data for IPO due diligence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Invest in scalable tech infrastructure to handle post-IPO growth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Build performance dashboards for transparency and stakeholder trust</a:t>
            </a:r>
          </a:p>
        </p:txBody>
      </p:sp>
    </p:spTree>
    <p:extLst>
      <p:ext uri="{BB962C8B-B14F-4D97-AF65-F5344CB8AC3E}">
        <p14:creationId xmlns:p14="http://schemas.microsoft.com/office/powerpoint/2010/main" val="2453851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5003701"/>
            <a:ext cx="942466" cy="2795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2227332"/>
            <a:ext cx="942466" cy="27959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10143618" y="7780070"/>
            <a:ext cx="942466" cy="27959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l="4069" t="1617" r="4069" b="1617"/>
          <a:stretch>
            <a:fillRect/>
          </a:stretch>
        </p:blipFill>
        <p:spPr>
          <a:xfrm>
            <a:off x="5419248" y="923622"/>
            <a:ext cx="5036754" cy="796339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539600"/>
            <a:ext cx="470355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spc="-80" dirty="0">
                <a:solidFill>
                  <a:srgbClr val="000000"/>
                </a:solidFill>
                <a:latin typeface="Graphik Regular" panose="020B0503030202060203" pitchFamily="34" charset="0"/>
              </a:rPr>
              <a:t>Summary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32" y="9481425"/>
            <a:ext cx="9711338" cy="2017079"/>
            <a:chOff x="0" y="0"/>
            <a:chExt cx="12948451" cy="268943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27032" y="-1179605"/>
            <a:ext cx="9711338" cy="2017079"/>
            <a:chOff x="0" y="0"/>
            <a:chExt cx="12948451" cy="2689439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6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C00ABEC5-EF3F-4E3E-827E-EB1F2EF17C0D}"/>
              </a:ext>
            </a:extLst>
          </p:cNvPr>
          <p:cNvGrpSpPr/>
          <p:nvPr/>
        </p:nvGrpSpPr>
        <p:grpSpPr>
          <a:xfrm>
            <a:off x="11581833" y="1580430"/>
            <a:ext cx="5677467" cy="867617"/>
            <a:chOff x="0" y="-47625"/>
            <a:chExt cx="7569956" cy="1156823"/>
          </a:xfrm>
        </p:grpSpPr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19A1BE45-8301-44C6-A0D0-F8FDA800622F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3DAE5247-0244-4123-A713-8D8809E80C70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grpSp>
        <p:nvGrpSpPr>
          <p:cNvPr id="23" name="Group 14">
            <a:extLst>
              <a:ext uri="{FF2B5EF4-FFF2-40B4-BE49-F238E27FC236}">
                <a16:creationId xmlns:a16="http://schemas.microsoft.com/office/drawing/2014/main" id="{F49CBA38-C879-499F-B0F5-691188949921}"/>
              </a:ext>
            </a:extLst>
          </p:cNvPr>
          <p:cNvGrpSpPr/>
          <p:nvPr/>
        </p:nvGrpSpPr>
        <p:grpSpPr>
          <a:xfrm>
            <a:off x="11581833" y="6964868"/>
            <a:ext cx="5677467" cy="867617"/>
            <a:chOff x="0" y="-47625"/>
            <a:chExt cx="7569956" cy="1156823"/>
          </a:xfrm>
        </p:grpSpPr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3A90234A-916B-4C29-ACF1-11F97E8C2563}"/>
                </a:ext>
              </a:extLst>
            </p:cNvPr>
            <p:cNvSpPr txBox="1"/>
            <p:nvPr/>
          </p:nvSpPr>
          <p:spPr>
            <a:xfrm>
              <a:off x="0" y="691990"/>
              <a:ext cx="7569956" cy="41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60"/>
                </a:lnSpc>
              </a:pPr>
              <a:endParaRPr lang="en-US" sz="1900" spc="-19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E1CF9388-A25B-45EF-AAD4-73FE2BA72053}"/>
                </a:ext>
              </a:extLst>
            </p:cNvPr>
            <p:cNvSpPr txBox="1"/>
            <p:nvPr/>
          </p:nvSpPr>
          <p:spPr>
            <a:xfrm>
              <a:off x="0" y="-47625"/>
              <a:ext cx="7569956" cy="451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40"/>
                </a:lnSpc>
              </a:pPr>
              <a:endParaRPr lang="en-US" sz="2100" spc="-21" dirty="0">
                <a:solidFill>
                  <a:srgbClr val="000000"/>
                </a:solidFill>
                <a:latin typeface="Graphik Regular" panose="020B0503030202060203" pitchFamily="34" charset="0"/>
              </a:endParaRPr>
            </a:p>
          </p:txBody>
        </p:sp>
      </p:grpSp>
      <p:sp>
        <p:nvSpPr>
          <p:cNvPr id="18" name="Rectangle 1">
            <a:extLst>
              <a:ext uri="{FF2B5EF4-FFF2-40B4-BE49-F238E27FC236}">
                <a16:creationId xmlns:a16="http://schemas.microsoft.com/office/drawing/2014/main" id="{4E81E56C-B6DE-A81D-098D-91C6DC50A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4501" y="2502333"/>
            <a:ext cx="665212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content categories identified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Animals category leads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84–85% positive sentiment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support IPO readiness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recommendations proposed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35584" y="5676900"/>
            <a:ext cx="5385738" cy="49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4400" spc="-26" dirty="0">
                <a:solidFill>
                  <a:srgbClr val="FFFFFF"/>
                </a:solidFill>
                <a:latin typeface="Graphik Regular" panose="020B0503030202060203" pitchFamily="34" charset="0"/>
              </a:rPr>
              <a:t>ANY QUESTIONS?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8428" y="3599225"/>
            <a:ext cx="3546595" cy="3371248"/>
            <a:chOff x="0" y="0"/>
            <a:chExt cx="4728794" cy="4494997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782946" y="549149"/>
              <a:ext cx="3945848" cy="394584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321"/>
            <a:stretch>
              <a:fillRect/>
            </a:stretch>
          </p:blipFill>
          <p:spPr>
            <a:xfrm rot="-5115457">
              <a:off x="160550" y="152500"/>
              <a:ext cx="3945848" cy="395426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4862233" y="3681122"/>
            <a:ext cx="5729829" cy="124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9600" spc="-80" dirty="0">
                <a:solidFill>
                  <a:srgbClr val="FFFFFF"/>
                </a:solidFill>
                <a:latin typeface="Graphik Regular" panose="020B0503030202060203" pitchFamily="34" charset="0"/>
              </a:rPr>
              <a:t>Thank you!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7113" y="-1140306"/>
            <a:ext cx="17253775" cy="2017079"/>
            <a:chOff x="0" y="0"/>
            <a:chExt cx="23005033" cy="268943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517113" y="9394369"/>
            <a:ext cx="17253775" cy="2017079"/>
            <a:chOff x="0" y="0"/>
            <a:chExt cx="23005033" cy="268943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6760969" y="0"/>
              <a:ext cx="2891870" cy="2689439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3408776" y="0"/>
              <a:ext cx="2891870" cy="268943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0056582" y="0"/>
              <a:ext cx="2891870" cy="2689439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20113163" y="0"/>
              <a:ext cx="2891870" cy="2689439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704388" y="0"/>
              <a:ext cx="2891870" cy="268943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3352194" y="0"/>
              <a:ext cx="2891870" cy="2689439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891870" cy="2689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1370</Words>
  <Application>Microsoft Office PowerPoint</Application>
  <PresentationFormat>Custom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Graphik Regular</vt:lpstr>
      <vt:lpstr>Clear Sans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creator>Kevin Dang</dc:creator>
  <cp:lastModifiedBy>Deepti Sahu</cp:lastModifiedBy>
  <cp:revision>9</cp:revision>
  <dcterms:created xsi:type="dcterms:W3CDTF">2006-08-16T00:00:00Z</dcterms:created>
  <dcterms:modified xsi:type="dcterms:W3CDTF">2025-04-10T14:48:48Z</dcterms:modified>
  <dc:identifier>DAEhDyfaYKE</dc:identifier>
</cp:coreProperties>
</file>